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Restaurants</c:v>
                </c:pt>
              </c:strCache>
            </c:strRef>
          </c:tx>
          <c:spPr>
            <a:solidFill>
              <a:srgbClr val="E557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B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Mumbai</c:v>
                  </c:pt>
                  <c:pt idx="1">
                    <c:v>Bangalore</c:v>
                  </c:pt>
                  <c:pt idx="2">
                    <c:v>Delhi</c:v>
                  </c:pt>
                  <c:pt idx="3">
                    <c:v>Kolkata</c:v>
                  </c:pt>
                  <c:pt idx="4">
                    <c:v>Chennai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115</c:v>
                </c:pt>
                <c:pt idx="1">
                  <c:v>109</c:v>
                </c:pt>
                <c:pt idx="2">
                  <c:v>93</c:v>
                </c:pt>
                <c:pt idx="3">
                  <c:v>92</c:v>
                </c:pt>
                <c:pt idx="4">
                  <c:v>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1B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5A6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7E4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5A6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5572B"/>
              </a:solidFill>
              <a:effectLst/>
            </c:spPr>
          </c:dPt>
          <c:dPt>
            <c:idx val="1"/>
            <c:bubble3D val="0"/>
            <c:spPr>
              <a:solidFill>
                <a:srgbClr val="E8A33D"/>
              </a:solidFill>
              <a:effectLst/>
            </c:spPr>
          </c:dPt>
          <c:dPt>
            <c:idx val="2"/>
            <c:bubble3D val="0"/>
            <c:spPr>
              <a:solidFill>
                <a:srgbClr val="3F7D4F"/>
              </a:solidFill>
              <a:effectLst/>
            </c:spPr>
          </c:dPt>
          <c:dPt>
            <c:idx val="3"/>
            <c:bubble3D val="0"/>
            <c:spPr>
              <a:solidFill>
                <a:srgbClr val="7A4B6B"/>
              </a:solidFill>
              <a:effectLst/>
            </c:spPr>
          </c:dPt>
          <c:dPt>
            <c:idx val="4"/>
            <c:bubble3D val="0"/>
            <c:spPr>
              <a:solidFill>
                <a:srgbClr val="55606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Mumbai</c:v>
                </c:pt>
                <c:pt idx="1">
                  <c:v>Bangalore</c:v>
                </c:pt>
                <c:pt idx="2">
                  <c:v>Delhi</c:v>
                </c:pt>
                <c:pt idx="3">
                  <c:v>Kolkata</c:v>
                </c:pt>
                <c:pt idx="4">
                  <c:v>Chennai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3384</c:v>
                </c:pt>
                <c:pt idx="1">
                  <c:v>3300</c:v>
                </c:pt>
                <c:pt idx="2">
                  <c:v>2857</c:v>
                </c:pt>
                <c:pt idx="3">
                  <c:v>2732</c:v>
                </c:pt>
                <c:pt idx="4">
                  <c:v>2727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(₹ '000)</c:v>
                </c:pt>
              </c:strCache>
            </c:strRef>
          </c:tx>
          <c:spPr>
            <a:solidFill>
              <a:srgbClr val="E5572B"/>
            </a:solidFill>
            <a:ln w="31750" cap="flat">
              <a:solidFill>
                <a:srgbClr val="E557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5572B"/>
              </a:solidFill>
              <a:ln w="9525" cap="flat">
                <a:solidFill>
                  <a:srgbClr val="E557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1268</c:v>
                </c:pt>
                <c:pt idx="1">
                  <c:v>1326</c:v>
                </c:pt>
                <c:pt idx="2">
                  <c:v>1283</c:v>
                </c:pt>
                <c:pt idx="3">
                  <c:v>1376</c:v>
                </c:pt>
                <c:pt idx="4">
                  <c:v>1266</c:v>
                </c:pt>
                <c:pt idx="5">
                  <c:v>1261</c:v>
                </c:pt>
                <c:pt idx="6">
                  <c:v>1310</c:v>
                </c:pt>
                <c:pt idx="7">
                  <c:v>1320</c:v>
                </c:pt>
                <c:pt idx="8">
                  <c:v>1298</c:v>
                </c:pt>
                <c:pt idx="9">
                  <c:v>1307</c:v>
                </c:pt>
                <c:pt idx="10">
                  <c:v>1278</c:v>
                </c:pt>
                <c:pt idx="11">
                  <c:v>1280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A6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7E4D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Revenue (₹ thousands)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A6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rgbClr val="3F7D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B1B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Restaurant_116</c:v>
                  </c:pt>
                  <c:pt idx="1">
                    <c:v>Restaurant_262</c:v>
                  </c:pt>
                  <c:pt idx="2">
                    <c:v>Restaurant_56</c:v>
                  </c:pt>
                  <c:pt idx="3">
                    <c:v>Restaurant_27</c:v>
                  </c:pt>
                  <c:pt idx="4">
                    <c:v>Restaurant_127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50931</c:v>
                </c:pt>
                <c:pt idx="1">
                  <c:v>48860</c:v>
                </c:pt>
                <c:pt idx="2">
                  <c:v>48646</c:v>
                </c:pt>
                <c:pt idx="3">
                  <c:v>48562</c:v>
                </c:pt>
                <c:pt idx="4">
                  <c:v>48203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B1B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5A6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7E4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5A6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B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Low</c:v>
                  </c:pt>
                  <c:pt idx="1">
                    <c:v>Medium</c:v>
                  </c:pt>
                  <c:pt idx="2">
                    <c:v>High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3.71</c:v>
                </c:pt>
                <c:pt idx="1">
                  <c:v>3.77</c:v>
                </c:pt>
                <c:pt idx="2">
                  <c:v>3.79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B1B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A6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3.5"/>
        </c:scaling>
        <c:delete val="0"/>
        <c:axPos val="l"/>
        <c:majorGridlines>
          <c:spPr>
            <a:ln w="9525" cap="flat">
              <a:solidFill>
                <a:srgbClr val="E7E4DE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A6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5572B"/>
              </a:solidFill>
              <a:effectLst/>
            </c:spPr>
          </c:dPt>
          <c:dPt>
            <c:idx val="1"/>
            <c:bubble3D val="0"/>
            <c:spPr>
              <a:solidFill>
                <a:srgbClr val="E8A33D"/>
              </a:solidFill>
              <a:effectLst/>
            </c:spPr>
          </c:dPt>
          <c:dPt>
            <c:idx val="2"/>
            <c:bubble3D val="0"/>
            <c:spPr>
              <a:solidFill>
                <a:srgbClr val="3F7D4F"/>
              </a:solidFill>
              <a:effectLst/>
            </c:spPr>
          </c:dPt>
          <c:dPt>
            <c:idx val="3"/>
            <c:bubble3D val="0"/>
            <c:spPr>
              <a:solidFill>
                <a:srgbClr val="7A4B6B"/>
              </a:solidFill>
              <a:effectLst/>
            </c:spPr>
          </c:dPt>
          <c:dPt>
            <c:idx val="4"/>
            <c:bubble3D val="0"/>
            <c:spPr>
              <a:solidFill>
                <a:srgbClr val="55606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Thai</c:v>
                </c:pt>
                <c:pt idx="1">
                  <c:v>Italian</c:v>
                </c:pt>
                <c:pt idx="2">
                  <c:v>Indian</c:v>
                </c:pt>
                <c:pt idx="3">
                  <c:v>Mexican</c:v>
                </c:pt>
                <c:pt idx="4">
                  <c:v>Chinese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3430539</c:v>
                </c:pt>
                <c:pt idx="1">
                  <c:v>3226916</c:v>
                </c:pt>
                <c:pt idx="2">
                  <c:v>3146671</c:v>
                </c:pt>
                <c:pt idx="3">
                  <c:v>3134943</c:v>
                </c:pt>
                <c:pt idx="4">
                  <c:v>2634818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1.png"/><Relationship Id="rId6" Type="http://schemas.openxmlformats.org/officeDocument/2006/relationships/image" Target="../media/image-5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image" Target="../media/image-13-1.png"/><Relationship Id="rId6" Type="http://schemas.openxmlformats.org/officeDocument/2006/relationships/image" Target="../media/image-13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E5572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931920"/>
            <a:ext cx="3108960" cy="3108960"/>
          </a:xfrm>
          <a:prstGeom prst="ellipse">
            <a:avLst/>
          </a:prstGeom>
          <a:solidFill>
            <a:srgbClr val="E8A33D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 BI CAPSTONE  ·  FOOD &amp; BEVERAGE ANALYTICS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Zomato Order &amp; Restaurant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Using Power BI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15,000 orders across 500 restaurants into pricing, demand, and performance insights.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5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15,000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5394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5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analyzed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0" y="4892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5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83280" y="5394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5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4892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5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26480" y="5394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5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Cities · FY2024</a:t>
            </a:r>
            <a:endParaRPr lang="en-US" sz="1100" dirty="0"/>
          </a:p>
        </p:txBody>
      </p:sp>
      <p:pic>
        <p:nvPicPr>
          <p:cNvPr id="13" name="Image 0" descr="/home/claude/icons/utensi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502920"/>
            <a:ext cx="1005840" cy="10058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GUVI × HCL  —  Skill Up. Level Up.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557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Business Use Cases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7F5F2"/>
          </a:solidFill>
          <a:ln w="12700">
            <a:solidFill>
              <a:srgbClr val="E7E4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E557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46177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50" i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Analyze and visualize Zomato's restaurant and order data to uncover trends in customer preferences, restaurant performance, pricing impact, and location-based insights — turning raw data into actionable business intelligence for decision-making.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03504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E557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USE CASES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35040" y="2148840"/>
            <a:ext cx="56692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  <a:effectLst>
            <a:outerShdw sx="100000" sy="100000" kx="0" ky="0" algn="bl" rotWithShape="0" blurRad="127000" dist="38100" dir="5400000">
              <a:srgbClr val="1B1B1F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2304288"/>
            <a:ext cx="329184" cy="329184"/>
          </a:xfrm>
          <a:prstGeom prst="ellipse">
            <a:avLst/>
          </a:prstGeom>
          <a:solidFill>
            <a:srgbClr val="E5572B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23042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20840" y="2203704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top-performing restaurants by ratings &amp; order volume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2926080"/>
            <a:ext cx="56692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  <a:effectLst>
            <a:outerShdw sx="100000" sy="100000" kx="0" ky="0" algn="bl" rotWithShape="0" blurRad="127000" dist="38100" dir="5400000">
              <a:srgbClr val="1B1B1F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3081528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081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20840" y="2980944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how pricing impacts customer orders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35040" y="3703320"/>
            <a:ext cx="56692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  <a:effectLst>
            <a:outerShdw sx="100000" sy="100000" kx="0" ky="0" algn="bl" rotWithShape="0" blurRad="127000" dist="38100" dir="5400000">
              <a:srgbClr val="1B1B1F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3858768"/>
            <a:ext cx="329184" cy="329184"/>
          </a:xfrm>
          <a:prstGeom prst="ellipse">
            <a:avLst/>
          </a:prstGeom>
          <a:solidFill>
            <a:srgbClr val="3F7D4F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38587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20840" y="3758184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customer preferences across cities &amp; areas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35040" y="4480560"/>
            <a:ext cx="56692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  <a:effectLst>
            <a:outerShdw sx="100000" sy="100000" kx="0" ky="0" algn="bl" rotWithShape="0" blurRad="127000" dist="38100" dir="5400000">
              <a:srgbClr val="1B1B1F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4636008"/>
            <a:ext cx="329184" cy="329184"/>
          </a:xfrm>
          <a:prstGeom prst="ellipse">
            <a:avLst/>
          </a:prstGeom>
          <a:solidFill>
            <a:srgbClr val="7A4B6B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46360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20840" y="4535424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delivery times and improve efficiency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035040" y="5257800"/>
            <a:ext cx="56692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  <a:effectLst>
            <a:outerShdw sx="100000" sy="100000" kx="0" ky="0" algn="bl" rotWithShape="0" blurRad="127000" dist="38100" dir="5400000">
              <a:srgbClr val="1B1B1F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5413248"/>
            <a:ext cx="329184" cy="329184"/>
          </a:xfrm>
          <a:prstGeom prst="ellipse">
            <a:avLst/>
          </a:prstGeom>
          <a:solidFill>
            <a:srgbClr val="55606E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5413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20840" y="5312664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demand trends for future growth planning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ORDER &amp; RESTAURANT ANALYSIS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557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Approach: Data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CSV → MySQL cleaning &amp; joins → Power BI modeling &amp; visuals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1965960" cy="26517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  <a:effectLst>
            <a:outerShdw sx="100000" sy="100000" kx="0" ky="0" algn="bl" rotWithShape="0" blurRad="127000" dist="38100" dir="5400000">
              <a:srgbClr val="1B1B1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651760"/>
            <a:ext cx="777240" cy="777240"/>
          </a:xfrm>
          <a:prstGeom prst="roundRect">
            <a:avLst>
              <a:gd name="adj" fmla="val 21176"/>
            </a:avLst>
          </a:prstGeom>
          <a:solidFill>
            <a:srgbClr val="E5572B">
              <a:alpha val="12000"/>
            </a:srgbClr>
          </a:solidFill>
          <a:ln/>
        </p:spPr>
      </p:sp>
      <p:pic>
        <p:nvPicPr>
          <p:cNvPr id="7" name="Image 0" descr="/home/claude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28117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0352" y="3566160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MySQL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66928" y="3950208"/>
            <a:ext cx="17465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Orders &amp; Restaurants CSVs into ZomatoDB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423160" y="347472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55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679192" y="2377440"/>
            <a:ext cx="1965960" cy="26517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  <a:effectLst>
            <a:outerShdw sx="100000" sy="100000" kx="0" ky="0" algn="bl" rotWithShape="0" blurRad="127000" dist="38100" dir="5400000">
              <a:srgbClr val="1B1B1F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73552" y="2651760"/>
            <a:ext cx="777240" cy="777240"/>
          </a:xfrm>
          <a:prstGeom prst="roundRect">
            <a:avLst>
              <a:gd name="adj" fmla="val 21176"/>
            </a:avLst>
          </a:prstGeom>
          <a:solidFill>
            <a:srgbClr val="E8A33D">
              <a:alpha val="12000"/>
            </a:srgbClr>
          </a:solidFill>
          <a:ln/>
        </p:spPr>
      </p:sp>
      <p:pic>
        <p:nvPicPr>
          <p:cNvPr id="13" name="Image 1" descr="/home/claude/icons/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572" y="28117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52344" y="3566160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Cleaning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2788920" y="3950208"/>
            <a:ext cx="17465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duplicates, handle NULLs, trim text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645152" y="347472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55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4901184" y="2377440"/>
            <a:ext cx="1965960" cy="26517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  <a:effectLst>
            <a:outerShdw sx="100000" sy="100000" kx="0" ky="0" algn="bl" rotWithShape="0" blurRad="127000" dist="38100" dir="5400000">
              <a:srgbClr val="1B1B1F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495544" y="2651760"/>
            <a:ext cx="777240" cy="777240"/>
          </a:xfrm>
          <a:prstGeom prst="roundRect">
            <a:avLst>
              <a:gd name="adj" fmla="val 21176"/>
            </a:avLst>
          </a:prstGeom>
          <a:solidFill>
            <a:srgbClr val="3F7D4F">
              <a:alpha val="12000"/>
            </a:srgbClr>
          </a:solidFill>
          <a:ln/>
        </p:spPr>
      </p:sp>
      <p:pic>
        <p:nvPicPr>
          <p:cNvPr id="19" name="Image 2" descr="/home/claude/icons/ta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5564" y="281178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74336" y="3566160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Aggregation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010912" y="3950208"/>
            <a:ext cx="17465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counts, top-5, revenue, joins → export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6867144" y="347472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55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7123176" y="2377440"/>
            <a:ext cx="1965960" cy="26517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  <a:effectLst>
            <a:outerShdw sx="100000" sy="100000" kx="0" ky="0" algn="bl" rotWithShape="0" blurRad="127000" dist="38100" dir="5400000">
              <a:srgbClr val="1B1B1F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717536" y="2651760"/>
            <a:ext cx="777240" cy="777240"/>
          </a:xfrm>
          <a:prstGeom prst="roundRect">
            <a:avLst>
              <a:gd name="adj" fmla="val 21176"/>
            </a:avLst>
          </a:prstGeom>
          <a:solidFill>
            <a:srgbClr val="7A4B6B">
              <a:alpha val="12000"/>
            </a:srgbClr>
          </a:solidFill>
          <a:ln/>
        </p:spPr>
      </p:sp>
      <p:pic>
        <p:nvPicPr>
          <p:cNvPr id="25" name="Image 3" descr="/home/claude/icons/chartb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7556" y="281178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196328" y="3566160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BI Model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7232904" y="3950208"/>
            <a:ext cx="17465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Import, relate on restaurant_id, add DAX measures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9089136" y="347472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55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3"/>
          <p:cNvSpPr/>
          <p:nvPr/>
        </p:nvSpPr>
        <p:spPr>
          <a:xfrm>
            <a:off x="9345168" y="2377440"/>
            <a:ext cx="1965960" cy="26517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  <a:effectLst>
            <a:outerShdw sx="100000" sy="100000" kx="0" ky="0" algn="bl" rotWithShape="0" blurRad="127000" dist="38100" dir="5400000">
              <a:srgbClr val="1B1B1F">
                <a:alpha val="1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9939528" y="2651760"/>
            <a:ext cx="777240" cy="777240"/>
          </a:xfrm>
          <a:prstGeom prst="roundRect">
            <a:avLst>
              <a:gd name="adj" fmla="val 21176"/>
            </a:avLst>
          </a:prstGeom>
          <a:solidFill>
            <a:srgbClr val="55606E">
              <a:alpha val="12000"/>
            </a:srgbClr>
          </a:solidFill>
          <a:ln/>
        </p:spPr>
      </p:sp>
      <p:pic>
        <p:nvPicPr>
          <p:cNvPr id="31" name="Image 4" descr="/home/claude/icons/chartpi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9548" y="2811780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418320" y="3566160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9454896" y="3950208"/>
            <a:ext cx="17465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visuals, slicers, KPI cards, storytelling layout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457200" y="5349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detail for every step lives in 02_SQL_Scripts/ and 04_PowerBI/ in the project folder.</a:t>
            </a:r>
            <a:endParaRPr lang="en-US" sz="1150" dirty="0"/>
          </a:p>
        </p:txBody>
      </p:sp>
      <p:sp>
        <p:nvSpPr>
          <p:cNvPr id="35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ORDER &amp; RESTAURANT ANALYSIS</a:t>
            </a:r>
            <a:endParaRPr lang="en-US" sz="850" dirty="0"/>
          </a:p>
        </p:txBody>
      </p:sp>
      <p:sp>
        <p:nvSpPr>
          <p:cNvPr id="36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557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source tables, joined on restaurant_id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394960" cy="502920"/>
          </a:xfrm>
          <a:prstGeom prst="roundRect">
            <a:avLst>
              <a:gd name="adj" fmla="val 14545"/>
            </a:avLst>
          </a:prstGeom>
          <a:solidFill>
            <a:srgbClr val="E5572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373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Zomato_Orders.csv  (15,000 rows)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5394960" cy="402336"/>
          </a:xfrm>
          <a:prstGeom prst="rect">
            <a:avLst/>
          </a:prstGeom>
          <a:solidFill>
            <a:srgbClr val="F7F5F2"/>
          </a:solidFill>
          <a:ln w="6350">
            <a:solidFill>
              <a:srgbClr val="E7E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28600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57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423160" y="2286000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order identifier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688336"/>
            <a:ext cx="5394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7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68833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57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restaurant_id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423160" y="2688336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to restaurant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090672"/>
            <a:ext cx="5394960" cy="402336"/>
          </a:xfrm>
          <a:prstGeom prst="rect">
            <a:avLst/>
          </a:prstGeom>
          <a:solidFill>
            <a:srgbClr val="F7F5F2"/>
          </a:solidFill>
          <a:ln w="6350">
            <a:solidFill>
              <a:srgbClr val="E7E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09067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57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order_date / time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423160" y="3090672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order was placed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493008"/>
            <a:ext cx="5394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7E4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49300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57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delivery_time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423160" y="3493008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 to deliver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394960" cy="402336"/>
          </a:xfrm>
          <a:prstGeom prst="rect">
            <a:avLst/>
          </a:prstGeom>
          <a:solidFill>
            <a:srgbClr val="F7F5F2"/>
          </a:solidFill>
          <a:ln w="6350">
            <a:solidFill>
              <a:srgbClr val="E7E4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89534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57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total_cost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423160" y="3895344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value incl. tax &amp; delivery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4297680"/>
            <a:ext cx="5394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7E4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29768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57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item_count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423160" y="4297680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in the order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4700016"/>
            <a:ext cx="5394960" cy="402336"/>
          </a:xfrm>
          <a:prstGeom prst="rect">
            <a:avLst/>
          </a:prstGeom>
          <a:solidFill>
            <a:srgbClr val="F7F5F2"/>
          </a:solidFill>
          <a:ln w="6350">
            <a:solidFill>
              <a:srgbClr val="E7E4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470001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57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payment_method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423160" y="4700016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/ Card / Wallet / COD...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5102352"/>
            <a:ext cx="5394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7E4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510235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57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customer_rating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423160" y="5102352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given for that order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09360" y="1737360"/>
            <a:ext cx="5394960" cy="502920"/>
          </a:xfrm>
          <a:prstGeom prst="roundRect">
            <a:avLst>
              <a:gd name="adj" fmla="val 14545"/>
            </a:avLst>
          </a:prstGeom>
          <a:solidFill>
            <a:srgbClr val="55606E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17373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Zomato_Restaurants.csv  (500 rows)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309360" y="2286000"/>
            <a:ext cx="5394960" cy="402336"/>
          </a:xfrm>
          <a:prstGeom prst="rect">
            <a:avLst/>
          </a:prstGeom>
          <a:solidFill>
            <a:srgbClr val="F7F5F2"/>
          </a:solidFill>
          <a:ln w="6350">
            <a:solidFill>
              <a:srgbClr val="E7E4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19088" y="228600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57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restaurant_id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275320" y="2286000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restaurant identifier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09360" y="2688336"/>
            <a:ext cx="5394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7E4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19088" y="268833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57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restaurant_name / city / area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275320" y="2688336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&amp; location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309360" y="3090672"/>
            <a:ext cx="5394960" cy="402336"/>
          </a:xfrm>
          <a:prstGeom prst="rect">
            <a:avLst/>
          </a:prstGeom>
          <a:solidFill>
            <a:srgbClr val="F7F5F2"/>
          </a:solidFill>
          <a:ln w="6350">
            <a:solidFill>
              <a:srgbClr val="E7E4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19088" y="309067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57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cuisine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275320" y="3090672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Indian, Chinese, Italian, Mexican, Thai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309360" y="3493008"/>
            <a:ext cx="5394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7E4D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19088" y="349300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57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avg_rating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275320" y="3493008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customer rating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309360" y="3895344"/>
            <a:ext cx="5394960" cy="402336"/>
          </a:xfrm>
          <a:prstGeom prst="rect">
            <a:avLst/>
          </a:prstGeom>
          <a:solidFill>
            <a:srgbClr val="F7F5F2"/>
          </a:solidFill>
          <a:ln w="6350">
            <a:solidFill>
              <a:srgbClr val="E7E4D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19088" y="389534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57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total_ratings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275320" y="3895344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ratings received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309360" y="4297680"/>
            <a:ext cx="53949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7E4D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19088" y="429768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57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price_range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275320" y="4297680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/ Medium / High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309360" y="4700016"/>
            <a:ext cx="5394960" cy="402336"/>
          </a:xfrm>
          <a:prstGeom prst="rect">
            <a:avLst/>
          </a:prstGeom>
          <a:solidFill>
            <a:srgbClr val="F7F5F2"/>
          </a:solidFill>
          <a:ln w="6350">
            <a:solidFill>
              <a:srgbClr val="E7E4D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19088" y="470001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57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delivery_available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275320" y="4700016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/ No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ORDER &amp; RESTAURANT ANALYSIS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557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Cleaning &amp; Validation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check specified in the brief, run against the real data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  <a:effectLst>
            <a:outerShdw sx="100000" sy="100000" kx="0" ky="0" algn="bl" rotWithShape="0" blurRad="127000" dist="38100" dir="5400000">
              <a:srgbClr val="1B1B1F">
                <a:alpha val="18000"/>
              </a:srgbClr>
            </a:outerShdw>
          </a:effectLst>
        </p:spPr>
      </p:sp>
      <p:pic>
        <p:nvPicPr>
          <p:cNvPr id="6" name="Image 0" descr="/home/claude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2174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66544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duplicate rows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17320" y="2523744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in either Orders or Restaurants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943600" y="192024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  <a:effectLst>
            <a:outerShdw sx="100000" sy="100000" kx="0" ky="0" algn="bl" rotWithShape="0" blurRad="127000" dist="38100" dir="5400000">
              <a:srgbClr val="1B1B1F">
                <a:alpha val="18000"/>
              </a:srgbClr>
            </a:outerShdw>
          </a:effectLst>
        </p:spPr>
      </p:sp>
      <p:pic>
        <p:nvPicPr>
          <p:cNvPr id="10" name="Image 1" descr="/home/claude/icons/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21742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03720" y="2066544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NULL values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903720" y="2523744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all 24 columns combined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57200" y="333756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  <a:effectLst>
            <a:outerShdw sx="100000" sy="100000" kx="0" ky="0" algn="bl" rotWithShape="0" blurRad="127000" dist="38100" dir="5400000">
              <a:srgbClr val="1B1B1F">
                <a:alpha val="18000"/>
              </a:srgbClr>
            </a:outerShdw>
          </a:effectLst>
        </p:spPr>
      </p:sp>
      <p:pic>
        <p:nvPicPr>
          <p:cNvPr id="14" name="Image 2" descr="/home/claude/icons/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3474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483864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15,000 / 15,000 orders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417320" y="3941064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cleanly to a valid restaurant_id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943600" y="333756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  <a:effectLst>
            <a:outerShdw sx="100000" sy="100000" kx="0" ky="0" algn="bl" rotWithShape="0" blurRad="127000" dist="38100" dir="5400000">
              <a:srgbClr val="1B1B1F">
                <a:alpha val="18000"/>
              </a:srgbClr>
            </a:outerShdw>
          </a:effectLst>
        </p:spPr>
      </p:sp>
      <p:pic>
        <p:nvPicPr>
          <p:cNvPr id="18" name="Image 3" descr="/home/claude/icons/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634740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03720" y="3483864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calendar year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6903720" y="3941064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2024-01-01 → 2024-12-28, no gaps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57200" y="475488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  <a:effectLst>
            <a:outerShdw sx="100000" sy="100000" kx="0" ky="0" algn="bl" rotWithShape="0" blurRad="127000" dist="38100" dir="5400000">
              <a:srgbClr val="1B1B1F">
                <a:alpha val="18000"/>
              </a:srgbClr>
            </a:outerShdw>
          </a:effectLst>
        </p:spPr>
      </p:sp>
      <p:pic>
        <p:nvPicPr>
          <p:cNvPr id="22" name="Image 4" descr="/home/claude/icons/check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052060"/>
            <a:ext cx="548640" cy="5486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17320" y="4901184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cities · 5 cuisines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1417320" y="5358384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price tiers, 5 areas — all consistent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5943600" y="475488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  <a:effectLst>
            <a:outerShdw sx="100000" sy="100000" kx="0" ky="0" algn="bl" rotWithShape="0" blurRad="127000" dist="38100" dir="5400000">
              <a:srgbClr val="1B1B1F">
                <a:alpha val="18000"/>
              </a:srgbClr>
            </a:outerShdw>
          </a:effectLst>
        </p:spPr>
      </p:sp>
      <p:pic>
        <p:nvPicPr>
          <p:cNvPr id="26" name="Image 5" descr="/home/claude/icons/checkcirc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5052060"/>
            <a:ext cx="548640" cy="5486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03720" y="4901184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 fields trimmed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6903720" y="5358384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data types verified in Power Query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ORDER &amp; RESTAURANT ANALYSIS</a:t>
            </a:r>
            <a:endParaRPr lang="en-US" sz="850" dirty="0"/>
          </a:p>
        </p:txBody>
      </p:sp>
      <p:sp>
        <p:nvSpPr>
          <p:cNvPr id="30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at a Glance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KPIs across all 15,000 orders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2011680" cy="2834640"/>
          </a:xfrm>
          <a:prstGeom prst="roundRect">
            <a:avLst>
              <a:gd name="adj" fmla="val 6364"/>
            </a:avLst>
          </a:prstGeom>
          <a:solidFill>
            <a:srgbClr val="26252B"/>
          </a:solidFill>
          <a:ln w="12700">
            <a:solidFill>
              <a:srgbClr val="3A39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65960"/>
            <a:ext cx="2011680" cy="54864"/>
          </a:xfrm>
          <a:prstGeom prst="rect">
            <a:avLst/>
          </a:prstGeom>
          <a:solidFill>
            <a:srgbClr val="E5572B"/>
          </a:solidFill>
          <a:ln/>
        </p:spPr>
      </p:sp>
      <p:pic>
        <p:nvPicPr>
          <p:cNvPr id="7" name="Image 0" descr="/home/claude/icons/rup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22860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971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₹1.56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48640" y="36576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5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670048" y="1965960"/>
            <a:ext cx="2011680" cy="2834640"/>
          </a:xfrm>
          <a:prstGeom prst="roundRect">
            <a:avLst>
              <a:gd name="adj" fmla="val 6364"/>
            </a:avLst>
          </a:prstGeom>
          <a:solidFill>
            <a:srgbClr val="26252B"/>
          </a:solidFill>
          <a:ln w="12700">
            <a:solidFill>
              <a:srgbClr val="3A394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70048" y="1965960"/>
            <a:ext cx="2011680" cy="54864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12" name="Image 1" descr="/home/claude/icons/rupe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4428" y="228600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61488" y="2971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₹1,038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2761488" y="36576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5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Order Value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882896" y="1965960"/>
            <a:ext cx="2011680" cy="2834640"/>
          </a:xfrm>
          <a:prstGeom prst="roundRect">
            <a:avLst>
              <a:gd name="adj" fmla="val 6364"/>
            </a:avLst>
          </a:prstGeom>
          <a:solidFill>
            <a:srgbClr val="26252B"/>
          </a:solidFill>
          <a:ln w="12700">
            <a:solidFill>
              <a:srgbClr val="3A394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82896" y="1965960"/>
            <a:ext cx="2011680" cy="54864"/>
          </a:xfrm>
          <a:prstGeom prst="rect">
            <a:avLst/>
          </a:prstGeom>
          <a:solidFill>
            <a:srgbClr val="3F7D4F"/>
          </a:solidFill>
          <a:ln/>
        </p:spPr>
      </p:sp>
      <p:pic>
        <p:nvPicPr>
          <p:cNvPr id="17" name="Image 2" descr="/home/claude/icons/ta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7276" y="228600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74336" y="2971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15,000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4974336" y="36576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5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095744" y="1965960"/>
            <a:ext cx="2011680" cy="2834640"/>
          </a:xfrm>
          <a:prstGeom prst="roundRect">
            <a:avLst>
              <a:gd name="adj" fmla="val 6364"/>
            </a:avLst>
          </a:prstGeom>
          <a:solidFill>
            <a:srgbClr val="26252B"/>
          </a:solidFill>
          <a:ln w="12700">
            <a:solidFill>
              <a:srgbClr val="3A394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095744" y="1965960"/>
            <a:ext cx="2011680" cy="54864"/>
          </a:xfrm>
          <a:prstGeom prst="rect">
            <a:avLst/>
          </a:prstGeom>
          <a:solidFill>
            <a:srgbClr val="7A4B6B"/>
          </a:solidFill>
          <a:ln/>
        </p:spPr>
      </p:sp>
      <p:pic>
        <p:nvPicPr>
          <p:cNvPr id="22" name="Image 3" descr="/home/claude/icons/c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0124" y="228600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87184" y="2971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52.4 min</a:t>
            </a:r>
            <a:endParaRPr lang="en-US" sz="2400" dirty="0"/>
          </a:p>
        </p:txBody>
      </p:sp>
      <p:sp>
        <p:nvSpPr>
          <p:cNvPr id="24" name="Text 18"/>
          <p:cNvSpPr/>
          <p:nvPr/>
        </p:nvSpPr>
        <p:spPr>
          <a:xfrm>
            <a:off x="7187184" y="36576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5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Delivery Time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9308592" y="1965960"/>
            <a:ext cx="2011680" cy="2834640"/>
          </a:xfrm>
          <a:prstGeom prst="roundRect">
            <a:avLst>
              <a:gd name="adj" fmla="val 6364"/>
            </a:avLst>
          </a:prstGeom>
          <a:solidFill>
            <a:srgbClr val="26252B"/>
          </a:solidFill>
          <a:ln w="12700">
            <a:solidFill>
              <a:srgbClr val="3A394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9308592" y="1965960"/>
            <a:ext cx="2011680" cy="54864"/>
          </a:xfrm>
          <a:prstGeom prst="rect">
            <a:avLst/>
          </a:prstGeom>
          <a:solidFill>
            <a:srgbClr val="55606E"/>
          </a:solidFill>
          <a:ln/>
        </p:spPr>
      </p:sp>
      <p:pic>
        <p:nvPicPr>
          <p:cNvPr id="27" name="Image 4" descr="/home/claude/icons/st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2972" y="2286000"/>
            <a:ext cx="502920" cy="5029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400032" y="2971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3.00 ★</a:t>
            </a:r>
            <a:endParaRPr lang="en-US" sz="2400" dirty="0"/>
          </a:p>
        </p:txBody>
      </p:sp>
      <p:sp>
        <p:nvSpPr>
          <p:cNvPr id="29" name="Text 22"/>
          <p:cNvSpPr/>
          <p:nvPr/>
        </p:nvSpPr>
        <p:spPr>
          <a:xfrm>
            <a:off x="9400032" y="36576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5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Customer Rating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457200" y="5166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8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restaurants across 5 cities  ·  Full-year 2024 coverage  ·  No data quality issues found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ORDER &amp; RESTAURANT ANALYSIS</a:t>
            </a:r>
            <a:endParaRPr lang="en-US" sz="850" dirty="0"/>
          </a:p>
        </p:txBody>
      </p:sp>
      <p:sp>
        <p:nvSpPr>
          <p:cNvPr id="32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557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Restaurant Density vs. Order Demand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&amp; 2 — supply and share of orders, by city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Restaurants per City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148840"/>
          <a:ext cx="52120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30936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Orders by City</a:t>
            </a:r>
            <a:endParaRPr lang="en-US" sz="125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309360" y="2148840"/>
          <a:ext cx="52120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ORDER &amp; RESTAURANT ANALYSIS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557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Amount Trend Over Time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 — monthly revenue across FY2024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828800"/>
          <a:ext cx="11247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8978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holds within a ~9% band all year (₹1.26M–₹1.38M/month) — no sharp seasonal spike in this dataset.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ORDER &amp; RESTAURANT ANALYSIS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557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Performers &amp; Rating Factors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&amp; 5 — highest earners, and what drives rating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Restaurants by Total Sales (₹)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148840"/>
          <a:ext cx="53949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30936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Range vs. Average Rating</a:t>
            </a:r>
            <a:endParaRPr lang="en-US" sz="125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309360" y="2148840"/>
          <a:ext cx="521208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6309360" y="416052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7A4B6B">
              <a:alpha val="10000"/>
            </a:srgbClr>
          </a:solidFill>
          <a:ln w="12700">
            <a:solidFill>
              <a:srgbClr val="7A4B6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537960" y="429768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7A4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tier and delivery time both show near-zero correlation with rating in this dataset (|r| &lt; 0.01). Ratings appear driven by something the current data doesn't capture — worth a follow-up study.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ORDER &amp; RESTAURANT ANALYSIS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557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by Area &amp; Cuisine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6 — where the ₹1.56 Cr in revenue concentrates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1174197" cy="1828800"/>
          </a:xfrm>
          <a:prstGeom prst="rect">
            <a:avLst/>
          </a:prstGeom>
          <a:solidFill>
            <a:srgbClr val="E557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0"/>
            <a:ext cx="117419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Area_A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117419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21.8%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31397" y="2148840"/>
            <a:ext cx="1096368" cy="1828800"/>
          </a:xfrm>
          <a:prstGeom prst="rect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31397" y="2286000"/>
            <a:ext cx="1096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Area_B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31397" y="3520440"/>
            <a:ext cx="1096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20.3%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27765" y="2148840"/>
            <a:ext cx="1063967" cy="1828800"/>
          </a:xfrm>
          <a:prstGeom prst="rect">
            <a:avLst/>
          </a:prstGeom>
          <a:solidFill>
            <a:srgbClr val="3F7D4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7765" y="2286000"/>
            <a:ext cx="106396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Area_D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27765" y="3520440"/>
            <a:ext cx="106396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19.7%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91731" y="2148840"/>
            <a:ext cx="1053820" cy="1828800"/>
          </a:xfrm>
          <a:prstGeom prst="rect">
            <a:avLst/>
          </a:prstGeom>
          <a:solidFill>
            <a:srgbClr val="7A4B6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1731" y="2286000"/>
            <a:ext cx="10538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Area_C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91731" y="3520440"/>
            <a:ext cx="10538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19.5%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5551" y="2148840"/>
            <a:ext cx="1006609" cy="1828800"/>
          </a:xfrm>
          <a:prstGeom prst="rect">
            <a:avLst/>
          </a:prstGeom>
          <a:solidFill>
            <a:srgbClr val="5560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5551" y="2286000"/>
            <a:ext cx="100660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Area_E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5551" y="3520440"/>
            <a:ext cx="100660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Area (Tree Map)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416052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Diversified footprint — Area_A leads but no single area dominates (≤15% spread top to bottom).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0936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Cuisine</a:t>
            </a:r>
            <a:endParaRPr lang="en-US" sz="125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6309360" y="2148840"/>
          <a:ext cx="52120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ORDER &amp; RESTAURANT ANALYSIS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557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Restaurant-Wise Sales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9 — top performers, ready for sort &amp; filter in Power BI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11247120" cy="4023360"/>
        </p:xfrm>
        <a:graphic>
          <a:graphicData uri="http://schemas.openxmlformats.org/drawingml/2006/table">
            <a:tbl>
              <a:tblPr/>
              <a:tblGrid>
                <a:gridCol w="640080"/>
                <a:gridCol w="2834640"/>
                <a:gridCol w="1828800"/>
                <a:gridCol w="1371600"/>
                <a:gridCol w="1188720"/>
                <a:gridCol w="1737360"/>
                <a:gridCol w="1645920"/>
              </a:tblGrid>
              <a:tr h="447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Restaurant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City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Price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Orders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Avg Order Value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Total Sales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Restaurant_116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Bangalore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46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₹1,107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₹50,931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Restaurant_262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Bangalore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41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₹1,192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₹48,860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Restaurant_56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Mumbai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44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₹1,106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₹48,646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Restaurant_27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Delhi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₹1,129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₹48,562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Restaurant_127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Bangalore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₹964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₹48,203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Restaurant_141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Delhi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40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₹1,179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₹47,153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Restaurant_208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Kolkata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45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₹1,046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₹47,065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2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Restaurant_396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Delhi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40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₹1,169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1B1F"/>
                          </a:solidFill>
                        </a:rPr>
                        <a:t>₹46,775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035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500-restaurant table lives in the Excel export &amp; the interactive HTML preview.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ORDER &amp; RESTAURANT ANALYSIS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557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 &amp; 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  <a:effectLst>
            <a:outerShdw sx="100000" sy="100000" kx="0" ky="0" algn="bl" rotWithShape="0" blurRad="127000" dist="38100" dir="5400000">
              <a:srgbClr val="1B1B1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2402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E5572B">
              <a:alpha val="15000"/>
            </a:srgbClr>
          </a:solidFill>
          <a:ln/>
        </p:spPr>
      </p:sp>
      <p:pic>
        <p:nvPicPr>
          <p:cNvPr id="6" name="Image 0" descr="/home/claude/icons/map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34543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911096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Mumbai &amp; Bangalore lead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25880" y="2295144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 ~44% of all orders — priority markets for delivery-fleet investment.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6126480" y="178308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  <a:effectLst>
            <a:outerShdw sx="100000" sy="100000" kx="0" ky="0" algn="bl" rotWithShape="0" blurRad="127000" dist="38100" dir="5400000">
              <a:srgbClr val="1B1B1F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09360" y="22402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E8A33D">
              <a:alpha val="15000"/>
            </a:srgbClr>
          </a:solidFill>
          <a:ln/>
        </p:spPr>
      </p:sp>
      <p:pic>
        <p:nvPicPr>
          <p:cNvPr id="11" name="Image 1" descr="/home/claude/icons/chart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234543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95160" y="1911096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 is steady, not seasonal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995160" y="2295144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revenue holds in a tight band all year — plan promotions on business goals, not a seasonal peak.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457200" y="342900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  <a:effectLst>
            <a:outerShdw sx="100000" sy="100000" kx="0" ky="0" algn="bl" rotWithShape="0" blurRad="127000" dist="38100" dir="5400000">
              <a:srgbClr val="1B1B1F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388620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3F7D4F">
              <a:alpha val="15000"/>
            </a:srgbClr>
          </a:solidFill>
          <a:ln/>
        </p:spPr>
      </p:sp>
      <p:pic>
        <p:nvPicPr>
          <p:cNvPr id="16" name="Image 2" descr="/home/claude/icons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99135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557016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doesn't buy a better rating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325880" y="3941064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High/Medium/Low tiers all average ~3.7–3.8★ — premium pricing needs its own value story.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6126480" y="342900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  <a:effectLst>
            <a:outerShdw sx="100000" sy="100000" kx="0" ky="0" algn="bl" rotWithShape="0" blurRad="127000" dist="38100" dir="5400000">
              <a:srgbClr val="1B1B1F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09360" y="388620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7A4B6B">
              <a:alpha val="15000"/>
            </a:srgbClr>
          </a:solidFill>
          <a:ln/>
        </p:spPr>
      </p:sp>
      <p:pic>
        <p:nvPicPr>
          <p:cNvPr id="21" name="Image 3" descr="/home/claude/icons/c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3991356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95160" y="3557016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speed ≠ satisfaction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995160" y="3941064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measurable link to rating (r ≈ 0.01) — investigate food quality &amp; order accuracy instead.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457200" y="507492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  <a:effectLst>
            <a:outerShdw sx="100000" sy="100000" kx="0" ky="0" algn="bl" rotWithShape="0" blurRad="127000" dist="38100" dir="5400000">
              <a:srgbClr val="1B1B1F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0080" y="55321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55606E">
              <a:alpha val="15000"/>
            </a:srgbClr>
          </a:solidFill>
          <a:ln/>
        </p:spPr>
      </p:sp>
      <p:pic>
        <p:nvPicPr>
          <p:cNvPr id="26" name="Image 4" descr="/home/claude/icons/chartpi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637276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25880" y="5202936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is well diversified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325880" y="5586984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area or cuisine dominates — marketing spend can spread rather than concentrate.</a:t>
            </a:r>
            <a:endParaRPr lang="en-US" sz="980" dirty="0"/>
          </a:p>
        </p:txBody>
      </p:sp>
      <p:sp>
        <p:nvSpPr>
          <p:cNvPr id="29" name="Shape 22"/>
          <p:cNvSpPr/>
          <p:nvPr/>
        </p:nvSpPr>
        <p:spPr>
          <a:xfrm>
            <a:off x="6126480" y="507492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4DE"/>
            </a:solidFill>
            <a:prstDash val="solid"/>
          </a:ln>
          <a:effectLst>
            <a:outerShdw sx="100000" sy="100000" kx="0" ky="0" algn="bl" rotWithShape="0" blurRad="127000" dist="38100" dir="5400000">
              <a:srgbClr val="1B1B1F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09360" y="55321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E5572B">
              <a:alpha val="15000"/>
            </a:srgbClr>
          </a:solidFill>
          <a:ln/>
        </p:spPr>
      </p:sp>
      <p:pic>
        <p:nvPicPr>
          <p:cNvPr id="31" name="Image 5" descr="/home/claude/icons/fla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5637276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95160" y="5202936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5 restaurants as a playbook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995160" y="5586984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nets ₹48K–₹51K — study their cuisine, area &amp; cadence to lift mid-tier outlets.</a:t>
            </a:r>
            <a:endParaRPr lang="en-US" sz="98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ORDER &amp; RESTAURANT ANALYSIS</a:t>
            </a:r>
            <a:endParaRPr lang="en-US" sz="85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557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Deliverables &amp; Folder Structure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Zomato_PowerBI_Project/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2167128"/>
            <a:ext cx="7360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57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01_Raw_Data/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371600" y="2496312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Zomato_Orders.csv · Zomato_Restaurants.csv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60120" y="2825496"/>
            <a:ext cx="7360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57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02_SQL_Scripts/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371600" y="3154680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scripts — create DB, clean, explore, aggregate, join &amp; export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60120" y="3483864"/>
            <a:ext cx="7360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57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03_Transformed_Data/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71600" y="3813048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Zomato_Transformed_Data.xlsx — Power BI-ready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60120" y="4142232"/>
            <a:ext cx="7360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57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04_PowerBI/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371600" y="4471416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Zomato_Dashboard.pbix — finished interactive report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60120" y="4800600"/>
            <a:ext cx="7360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57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05_Documentation/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371600" y="5129784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Project_Documentation.md — findings &amp; recommendations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0120" y="5458968"/>
            <a:ext cx="7360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57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06_Presentation/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371600" y="5788152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Zomato_Project_Presentation.pptx — this deck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595360" y="1783080"/>
            <a:ext cx="3108960" cy="4206240"/>
          </a:xfrm>
          <a:prstGeom prst="roundRect">
            <a:avLst>
              <a:gd name="adj" fmla="val 2941"/>
            </a:avLst>
          </a:prstGeom>
          <a:solidFill>
            <a:srgbClr val="F7F5F2"/>
          </a:solidFill>
          <a:ln w="12700">
            <a:solidFill>
              <a:srgbClr val="E7E4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23960" y="1965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E557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DELIVERABLES</a:t>
            </a:r>
            <a:endParaRPr lang="en-US" sz="1100" dirty="0"/>
          </a:p>
        </p:txBody>
      </p:sp>
      <p:pic>
        <p:nvPicPr>
          <p:cNvPr id="19" name="Image 0" descr="/home/claude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2423160"/>
            <a:ext cx="274320" cy="2743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9144000" y="236829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database scripts</a:t>
            </a:r>
            <a:endParaRPr lang="en-US" sz="1050" dirty="0"/>
          </a:p>
        </p:txBody>
      </p:sp>
      <p:pic>
        <p:nvPicPr>
          <p:cNvPr id="21" name="Image 1" descr="/home/claude/icons/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2990088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9144000" y="2935224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report (finished .pbix)</a:t>
            </a:r>
            <a:endParaRPr lang="en-US" sz="1050" dirty="0"/>
          </a:p>
        </p:txBody>
      </p:sp>
      <p:pic>
        <p:nvPicPr>
          <p:cNvPr id="23" name="Image 2" descr="/home/claude/icons/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3557016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144000" y="350215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Transformed Excel dataset</a:t>
            </a:r>
            <a:endParaRPr lang="en-US" sz="1050" dirty="0"/>
          </a:p>
        </p:txBody>
      </p:sp>
      <p:pic>
        <p:nvPicPr>
          <p:cNvPr id="25" name="Image 3" descr="/home/claude/icons/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0" y="4123944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44000" y="4069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documentation (Word &amp; Markdown)</a:t>
            </a:r>
            <a:endParaRPr lang="en-US" sz="1050" dirty="0"/>
          </a:p>
        </p:txBody>
      </p:sp>
      <p:pic>
        <p:nvPicPr>
          <p:cNvPr id="27" name="Image 4" descr="/home/claude/icons/check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4690872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144000" y="463600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presentation deck</a:t>
            </a:r>
            <a:endParaRPr lang="en-US" sz="1050" dirty="0"/>
          </a:p>
        </p:txBody>
      </p:sp>
      <p:pic>
        <p:nvPicPr>
          <p:cNvPr id="29" name="Image 5" descr="/home/claude/icons/checkcirc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0" y="5257800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144000" y="520293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 &amp; folder guide</a:t>
            </a:r>
            <a:endParaRPr lang="en-US" sz="1050" dirty="0"/>
          </a:p>
        </p:txBody>
      </p:sp>
      <p:sp>
        <p:nvSpPr>
          <p:cNvPr id="31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ORDER &amp; RESTAURANT ANALYSIS</a:t>
            </a:r>
            <a:endParaRPr lang="en-US" sz="850" dirty="0"/>
          </a:p>
        </p:txBody>
      </p:sp>
      <p:sp>
        <p:nvSpPr>
          <p:cNvPr id="32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E5572B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73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STATUS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214884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dashboard is built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ready to explore.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57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39319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04_PowerBI/Zomato_Dashboard.pbix in Power BI Desktop to explore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57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44805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city, area, or restaurant using the built-in slicers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5029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57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50292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1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full findings in 05_Documentation/Project_Documentation.md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989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8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2026-08-06T06:22:03Z</dcterms:created>
  <dcterms:modified xsi:type="dcterms:W3CDTF">2026-08-06T06:22:03Z</dcterms:modified>
</cp:coreProperties>
</file>